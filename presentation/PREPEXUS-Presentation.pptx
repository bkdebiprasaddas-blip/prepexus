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547104"/>
            <a:ext cx="1372920" cy="310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4632" y="6547104"/>
            <a:ext cx="1372920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09265" y="6547104"/>
            <a:ext cx="1372920" cy="31089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6547104"/>
            <a:ext cx="1372920" cy="3108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8531" y="6547104"/>
            <a:ext cx="1372920" cy="3108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73164" y="6547104"/>
            <a:ext cx="1372920" cy="3108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7796" y="6547104"/>
            <a:ext cx="1372920" cy="31089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2429" y="6547104"/>
            <a:ext cx="1372920" cy="31089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37062" y="6547104"/>
            <a:ext cx="1372920" cy="310896"/>
          </a:xfrm>
          <a:prstGeom prst="rect">
            <a:avLst/>
          </a:prstGeom>
          <a:solidFill>
            <a:srgbClr val="4D7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561320" y="-822960"/>
            <a:ext cx="2377440" cy="2377440"/>
          </a:xfrm>
          <a:prstGeom prst="ellipse">
            <a:avLst/>
          </a:prstGeom>
          <a:solidFill>
            <a:srgbClr val="F4EF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292840" y="914400"/>
            <a:ext cx="1234440" cy="1234440"/>
          </a:xfrm>
          <a:prstGeom prst="ellipse">
            <a:avLst/>
          </a:prstGeom>
          <a:solidFill>
            <a:srgbClr val="FB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2960" y="969264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969264"/>
            <a:ext cx="329184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Segoe UI"/>
              </a:rPr>
              <a:t>FINAL PROJECT PRESENTATION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1691640"/>
            <a:ext cx="108813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0" b="1">
                <a:solidFill>
                  <a:srgbClr val="4F46E5"/>
                </a:solidFill>
                <a:latin typeface="Segoe UI"/>
              </a:rPr>
              <a:t>P</a:t>
            </a:r>
            <a:r>
              <a:rPr sz="8400" b="1">
                <a:solidFill>
                  <a:srgbClr val="7C3AED"/>
                </a:solidFill>
                <a:latin typeface="Segoe UI"/>
              </a:rPr>
              <a:t>R</a:t>
            </a:r>
            <a:r>
              <a:rPr sz="8400" b="1">
                <a:solidFill>
                  <a:srgbClr val="DB2777"/>
                </a:solidFill>
                <a:latin typeface="Segoe UI"/>
              </a:rPr>
              <a:t>E</a:t>
            </a:r>
            <a:r>
              <a:rPr sz="8400" b="1">
                <a:solidFill>
                  <a:srgbClr val="E11D48"/>
                </a:solidFill>
                <a:latin typeface="Segoe UI"/>
              </a:rPr>
              <a:t>P</a:t>
            </a:r>
            <a:r>
              <a:rPr sz="8400" b="1">
                <a:solidFill>
                  <a:srgbClr val="D97706"/>
                </a:solidFill>
                <a:latin typeface="Segoe UI"/>
              </a:rPr>
              <a:t>E</a:t>
            </a:r>
            <a:r>
              <a:rPr sz="8400" b="1">
                <a:solidFill>
                  <a:srgbClr val="0D9488"/>
                </a:solidFill>
                <a:latin typeface="Segoe UI"/>
              </a:rPr>
              <a:t>X</a:t>
            </a:r>
            <a:r>
              <a:rPr sz="8400" b="1">
                <a:solidFill>
                  <a:srgbClr val="0284C7"/>
                </a:solidFill>
                <a:latin typeface="Segoe UI"/>
              </a:rPr>
              <a:t>U</a:t>
            </a:r>
            <a:r>
              <a:rPr sz="8400" b="1">
                <a:solidFill>
                  <a:srgbClr val="EA580C"/>
                </a:solidFill>
                <a:latin typeface="Segoe UI"/>
              </a:rPr>
              <a:t>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06324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0">
                <a:solidFill>
                  <a:srgbClr val="1B2440"/>
                </a:solidFill>
                <a:latin typeface="Segoe UI"/>
              </a:rPr>
              <a:t>Student Study Tracker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3675887"/>
            <a:ext cx="1060704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5A6478"/>
                </a:solidFill>
                <a:latin typeface="Segoe UI"/>
              </a:rPr>
              <a:t>Plan your subjects   ·   Organise study materials   ·   Track your progress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956048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5A6478"/>
                </a:solidFill>
                <a:latin typeface="Segoe UI"/>
              </a:rPr>
              <a:t>Presented by  </a:t>
            </a:r>
            <a:r>
              <a:rPr sz="1400" b="1">
                <a:solidFill>
                  <a:srgbClr val="1B2440"/>
                </a:solidFill>
                <a:latin typeface="Segoe UI"/>
              </a:rPr>
              <a:t>[Your Name]</a:t>
            </a:r>
            <a:r>
              <a:rPr sz="1400" b="0">
                <a:solidFill>
                  <a:srgbClr val="5A6478"/>
                </a:solidFill>
                <a:latin typeface="Segoe UI"/>
              </a:rPr>
              <a:t>   ·   BCA</a:t>
            </a:r>
            <a:r>
              <a:rPr sz="1400" b="0">
                <a:solidFill>
                  <a:srgbClr val="5A6478"/>
                </a:solidFill>
                <a:latin typeface="Segoe UI"/>
              </a:rPr>
              <a:t>   ·   6th Semester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4224528"/>
            <a:ext cx="1293876" cy="402336"/>
          </a:xfrm>
          <a:prstGeom prst="roundRect">
            <a:avLst>
              <a:gd name="adj" fmla="val 50000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4224528"/>
            <a:ext cx="129387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7C3AED"/>
                </a:solidFill>
                <a:latin typeface="Segoe UI"/>
              </a:rPr>
              <a:t>PHP 8.5.8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382012" y="4224528"/>
            <a:ext cx="1924812" cy="402336"/>
          </a:xfrm>
          <a:prstGeom prst="roundRect">
            <a:avLst>
              <a:gd name="adj" fmla="val 50000"/>
            </a:avLst>
          </a:prstGeom>
          <a:solidFill>
            <a:srgbClr val="D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382012" y="4224528"/>
            <a:ext cx="192481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0D9488"/>
                </a:solidFill>
                <a:latin typeface="Segoe UI"/>
              </a:rPr>
              <a:t>MariaDB 10.4.32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26279" y="4224528"/>
            <a:ext cx="1819656" cy="402336"/>
          </a:xfrm>
          <a:prstGeom prst="roundRect">
            <a:avLst>
              <a:gd name="adj" fmla="val 50000"/>
            </a:avLst>
          </a:prstGeom>
          <a:solidFill>
            <a:srgbClr val="F9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26279" y="4224528"/>
            <a:ext cx="1819656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97706"/>
                </a:solidFill>
                <a:latin typeface="Segoe UI"/>
              </a:rPr>
              <a:t>XAMPP / Apache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65392" y="4224528"/>
            <a:ext cx="2976372" cy="402336"/>
          </a:xfrm>
          <a:prstGeom prst="roundRect">
            <a:avLst>
              <a:gd name="adj" fmla="val 50000"/>
            </a:avLst>
          </a:prstGeom>
          <a:solidFill>
            <a:srgbClr val="F9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65392" y="4224528"/>
            <a:ext cx="2976372" cy="4023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DB2777"/>
                </a:solidFill>
                <a:latin typeface="Segoe UI"/>
              </a:rPr>
              <a:t>HTML5 · CSS3 · Vanilla JS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A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01  ·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Studying gets messy, fast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FA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C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9536" y="2057400"/>
            <a:ext cx="548640" cy="5486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440"/>
                </a:solidFill>
                <a:latin typeface="Segoe UI"/>
              </a:rPr>
              <a:t>Multiple subjects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3246120"/>
            <a:ext cx="3035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Segoe UI"/>
              </a:rPr>
              <a:t>Every semester brings several subjects — each with its own code, credit load and study plan that need separate attention.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78308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C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45736" y="2057400"/>
            <a:ext cx="548640" cy="5486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45736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440"/>
                </a:solidFill>
                <a:latin typeface="Segoe UI"/>
              </a:rPr>
              <a:t>Deadlines slip by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246120"/>
            <a:ext cx="3035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Segoe UI"/>
              </a:rPr>
              <a:t>Internal exams and submission dates arrive quietly. Without an overview, tasks pile up and priorities blur.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1783080"/>
            <a:ext cx="3566160" cy="2514600"/>
          </a:xfrm>
          <a:prstGeom prst="roundRect">
            <a:avLst>
              <a:gd name="adj" fmla="val 8000"/>
            </a:avLst>
          </a:prstGeom>
          <a:solidFill>
            <a:srgbClr val="FCEC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31936" y="2057400"/>
            <a:ext cx="548640" cy="54864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2788920"/>
            <a:ext cx="3017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1B2440"/>
                </a:solidFill>
                <a:latin typeface="Segoe UI"/>
              </a:rPr>
              <a:t>Materials scattered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3246120"/>
            <a:ext cx="3035808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5A6478"/>
                </a:solidFill>
                <a:latin typeface="Segoe UI"/>
              </a:rPr>
              <a:t>Notes live in PDFs, videos, links and chat threads. Hunting for the right resource wastes precious study time.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617720"/>
            <a:ext cx="11338560" cy="658368"/>
          </a:xfrm>
          <a:prstGeom prst="roundRect">
            <a:avLst>
              <a:gd name="adj" fmla="val 50000"/>
            </a:avLst>
          </a:prstGeom>
          <a:solidFill>
            <a:srgbClr val="F9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4617720"/>
            <a:ext cx="106070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1B2440"/>
                </a:solidFill>
                <a:latin typeface="Segoe UI"/>
              </a:rPr>
              <a:t>Students need </a:t>
            </a:r>
            <a:r>
              <a:rPr sz="1400" b="1">
                <a:solidFill>
                  <a:srgbClr val="D97706"/>
                </a:solidFill>
                <a:latin typeface="Segoe UI"/>
              </a:rPr>
              <a:t>one place</a:t>
            </a:r>
            <a:r>
              <a:rPr sz="1400" b="0">
                <a:solidFill>
                  <a:srgbClr val="1B2440"/>
                </a:solidFill>
                <a:latin typeface="Segoe UI"/>
              </a:rPr>
              <a:t> to plan tasks, store materials and see progress at a glance.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6E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02  · 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PREPEXUS — one dashboard to keep study life in order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E4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37360"/>
            <a:ext cx="3675887" cy="960120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865376"/>
            <a:ext cx="3127247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PLAN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E7DBFB"/>
                </a:solidFill>
                <a:latin typeface="Segoe UI"/>
              </a:rPr>
              <a:t>Subjects &amp; task planner — know what to study and when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9976" y="1737360"/>
            <a:ext cx="3675887" cy="960120"/>
          </a:xfrm>
          <a:prstGeom prst="roundRect">
            <a:avLst>
              <a:gd name="adj" fmla="val 12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54296" y="1865376"/>
            <a:ext cx="3127247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ORGANISE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D3EBE9"/>
                </a:solidFill>
                <a:latin typeface="Segoe UI"/>
              </a:rPr>
              <a:t>Materials library — PDFs, videos &amp; links in one place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93024" y="1737360"/>
            <a:ext cx="3712463" cy="960120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1865376"/>
            <a:ext cx="3163823" cy="7040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Segoe UI"/>
              </a:rPr>
              <a:t>TRACK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50" b="0">
                <a:solidFill>
                  <a:srgbClr val="F8E6D2"/>
                </a:solidFill>
                <a:latin typeface="Segoe UI"/>
              </a:rPr>
              <a:t>Progress dashboard — see your completion at a glance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2971800"/>
            <a:ext cx="365760" cy="36576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29443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F46E5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27048" y="29809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440"/>
                </a:solidFill>
                <a:latin typeface="Segoe UI"/>
              </a:rPr>
              <a:t>Create and manage subjects with codes, credits and descriptions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381304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2688" y="3785615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7C3AED"/>
                </a:solidFill>
                <a:latin typeface="Segoe U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27048" y="3822191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440"/>
                </a:solidFill>
                <a:latin typeface="Segoe UI"/>
              </a:rPr>
              <a:t>Plan study tasks with priority and status badges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4654296"/>
            <a:ext cx="365760" cy="36576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4626864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D9488"/>
                </a:solidFill>
                <a:latin typeface="Segoe U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7048" y="4663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440"/>
                </a:solidFill>
                <a:latin typeface="Segoe UI"/>
              </a:rPr>
              <a:t>Save study materials per subject — PDF, video or website</a:t>
            </a:r>
          </a:p>
        </p:txBody>
      </p:sp>
      <p:sp>
        <p:nvSpPr>
          <p:cNvPr id="23" name="Oval 22"/>
          <p:cNvSpPr/>
          <p:nvPr/>
        </p:nvSpPr>
        <p:spPr>
          <a:xfrm>
            <a:off x="6327648" y="2971800"/>
            <a:ext cx="365760" cy="365760"/>
          </a:xfrm>
          <a:prstGeom prst="ellipse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8" y="29443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284C7"/>
                </a:solidFill>
                <a:latin typeface="Segoe U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87768" y="2980944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440"/>
                </a:solidFill>
                <a:latin typeface="Segoe UI"/>
              </a:rPr>
              <a:t>Live overall and per-subject progress percentages</a:t>
            </a:r>
          </a:p>
        </p:txBody>
      </p:sp>
      <p:sp>
        <p:nvSpPr>
          <p:cNvPr id="26" name="Oval 25"/>
          <p:cNvSpPr/>
          <p:nvPr/>
        </p:nvSpPr>
        <p:spPr>
          <a:xfrm>
            <a:off x="6327648" y="3813048"/>
            <a:ext cx="365760" cy="36576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3408" y="3785615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DB2777"/>
                </a:solidFill>
                <a:latin typeface="Segoe U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87768" y="3822191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440"/>
                </a:solidFill>
                <a:latin typeface="Segoe UI"/>
              </a:rPr>
              <a:t>Secure registration, login and a personal profile</a:t>
            </a:r>
          </a:p>
        </p:txBody>
      </p:sp>
      <p:sp>
        <p:nvSpPr>
          <p:cNvPr id="29" name="Oval 28"/>
          <p:cNvSpPr/>
          <p:nvPr/>
        </p:nvSpPr>
        <p:spPr>
          <a:xfrm>
            <a:off x="6327648" y="4654296"/>
            <a:ext cx="365760" cy="36576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93408" y="4626864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E11D48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87768" y="4663440"/>
            <a:ext cx="4663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1B2440"/>
                </a:solidFill>
                <a:latin typeface="Segoe UI"/>
              </a:rPr>
              <a:t>Dedicated admin panel for platform management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532120"/>
            <a:ext cx="2651760" cy="713232"/>
          </a:xfrm>
          <a:prstGeom prst="roundRect">
            <a:avLst>
              <a:gd name="adj" fmla="val 16000"/>
            </a:avLst>
          </a:prstGeom>
          <a:solidFill>
            <a:srgbClr val="EDEC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5528" y="565099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4F46E5"/>
                </a:solidFill>
                <a:latin typeface="Segoe UI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618488" y="570585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database tables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438144" y="5532120"/>
            <a:ext cx="2651760" cy="713232"/>
          </a:xfrm>
          <a:prstGeom prst="roundRect">
            <a:avLst>
              <a:gd name="adj" fmla="val 16000"/>
            </a:avLst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66744" y="565099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7C3AED"/>
                </a:solidFill>
                <a:latin typeface="Segoe UI"/>
              </a:rP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89704" y="570585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student-facing pages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59" y="5532120"/>
            <a:ext cx="2651760" cy="713232"/>
          </a:xfrm>
          <a:prstGeom prst="roundRect">
            <a:avLst>
              <a:gd name="adj" fmla="val 16000"/>
            </a:avLst>
          </a:prstGeom>
          <a:solidFill>
            <a:srgbClr val="FBE9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59" y="565099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DB2777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19" y="5705856"/>
            <a:ext cx="1554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admin pages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180576" y="5532120"/>
            <a:ext cx="3291840" cy="713232"/>
          </a:xfrm>
          <a:prstGeom prst="roundRect">
            <a:avLst>
              <a:gd name="adj" fmla="val 16000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409176" y="565099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0D9488"/>
                </a:solidFill>
                <a:latin typeface="Segoe UI"/>
              </a:rPr>
              <a:t>31 / 31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06455" y="5705856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tests passing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9E0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B2777"/>
                </a:solidFill>
                <a:latin typeface="Segoe UI"/>
              </a:rPr>
              <a:t>03  · 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Everything a student needs, in one app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F9DE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10512"/>
            <a:ext cx="82296" cy="19202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9339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Subjects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377440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Add, edit and delete subjects with code, credit and a short description.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810512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1810512"/>
            <a:ext cx="82296" cy="19202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429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199339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Study Planner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377440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Plan tasks with priority (High / Medium / Low), study &amp; due dates and status badges.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1810512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9327" y="1810512"/>
            <a:ext cx="82296" cy="19202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049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199339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Materials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377440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Keep PDFs, videos and website links organised under each subject.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13632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ED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3913632"/>
            <a:ext cx="82296" cy="192024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11480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09651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Progress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4480560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Overall progress bar plus a per-subject breakdown of completed tasks.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913632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FC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3128" y="3913632"/>
            <a:ext cx="82296" cy="192024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54296" y="411480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4376" y="409651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6" y="4480560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Live stat cards, progress overview and quick access to every module.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9327" y="3913632"/>
            <a:ext cx="3566160" cy="1920240"/>
          </a:xfrm>
          <a:prstGeom prst="roundRect">
            <a:avLst>
              <a:gd name="adj" fmla="val 9000"/>
            </a:avLst>
          </a:prstGeom>
          <a:solidFill>
            <a:srgbClr val="F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39327" y="3913632"/>
            <a:ext cx="82296" cy="1920240"/>
          </a:xfrm>
          <a:prstGeom prst="round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40496" y="411480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U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409651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Profile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480560"/>
            <a:ext cx="2487168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Manage your name, email, course and semester — all personal and secure.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Segoe UI"/>
              </a:rPr>
              <a:t>04  ·  TECHNOLOGY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A clean, lightweight stack — no frameworks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EBE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10512"/>
            <a:ext cx="82296" cy="18288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6809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PHP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199339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8.5.8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08176" y="2377440"/>
            <a:ext cx="24871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Server-side logic, sessions, form handling and role-based routing.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810512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53128" y="1810512"/>
            <a:ext cx="82296" cy="182880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65429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94376" y="199339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MariaDB 10.4.32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94376" y="2377440"/>
            <a:ext cx="24871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Relational store — 4 tables, utf8mb4, InnoDB.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1810512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FD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339327" y="1810512"/>
            <a:ext cx="82296" cy="1828800"/>
          </a:xfrm>
          <a:prstGeom prst="round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540496" y="2011680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AP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80576" y="199339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Apache · XAMPP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0576" y="2377440"/>
            <a:ext cx="24871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Local web server stack; the project runs anywhere XAMPP runs.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22191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ED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3822191"/>
            <a:ext cx="82296" cy="182880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68096" y="4023359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H5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08176" y="400507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HTML5 + CSS3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08176" y="4389120"/>
            <a:ext cx="24871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Semantic pages with a shared 2,600+ line stylesheet.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822191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F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453128" y="3822191"/>
            <a:ext cx="82296" cy="18288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654296" y="4023359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JS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94376" y="400507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Vanilla JavaScript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94376" y="4389120"/>
            <a:ext cx="24871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Sidebar toggles, form show/hide — no library needed.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9327" y="3822191"/>
            <a:ext cx="3566160" cy="1828800"/>
          </a:xfrm>
          <a:prstGeom prst="roundRect">
            <a:avLst>
              <a:gd name="adj" fmla="val 9000"/>
            </a:avLst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39327" y="3822191"/>
            <a:ext cx="82296" cy="18288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540496" y="4023359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80576" y="4005072"/>
            <a:ext cx="2560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mysqli (prepared)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0576" y="4389120"/>
            <a:ext cx="248716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Parameterised statements on every database query.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742432"/>
            <a:ext cx="11338560" cy="548640"/>
          </a:xfrm>
          <a:prstGeom prst="roundRect">
            <a:avLst>
              <a:gd name="adj" fmla="val 50000"/>
            </a:avLst>
          </a:prstGeom>
          <a:solidFill>
            <a:srgbClr val="F1E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742432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Segoe UI"/>
              </a:rPr>
              <a:t>No frameworks: </a:t>
            </a:r>
            <a:r>
              <a:rPr sz="1250" b="0">
                <a:solidFill>
                  <a:srgbClr val="1B2440"/>
                </a:solidFill>
                <a:latin typeface="Segoe UI"/>
              </a:rPr>
              <a:t>single-file PHP pages — fast startup, full control, effortless demo on any XAMPP setup.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6E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05  ·  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One login, two secure areas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E4E3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2377440" cy="868680"/>
          </a:xfrm>
          <a:prstGeom prst="roundRect">
            <a:avLst>
              <a:gd name="adj" fmla="val 14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1956816"/>
            <a:ext cx="23774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Register / Login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BFE0F1"/>
                </a:solidFill>
                <a:latin typeface="Segoe UI"/>
              </a:rPr>
              <a:t>session created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40"/>
                </a:solidFill>
                <a:latin typeface="Segoe U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1828800"/>
            <a:ext cx="3108960" cy="868680"/>
          </a:xfrm>
          <a:prstGeom prst="roundRect">
            <a:avLst>
              <a:gd name="adj" fmla="val 1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1956816"/>
            <a:ext cx="31089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Role check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E2D3FB"/>
                </a:solidFill>
                <a:latin typeface="Segoe UI"/>
              </a:rPr>
              <a:t>users.role = student | admin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22592" y="2011680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1B2440"/>
                </a:solidFill>
                <a:latin typeface="Segoe U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1828800"/>
            <a:ext cx="4023360" cy="868680"/>
          </a:xfrm>
          <a:prstGeom prst="roundRect">
            <a:avLst>
              <a:gd name="adj" fmla="val 14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18120" y="1956816"/>
            <a:ext cx="40233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Shared mysqli layer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C9E7E4"/>
                </a:solidFill>
                <a:latin typeface="Segoe UI"/>
              </a:rPr>
              <a:t>config/database.php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17520"/>
            <a:ext cx="5486400" cy="2651760"/>
          </a:xfrm>
          <a:prstGeom prst="roundRect">
            <a:avLst>
              <a:gd name="adj" fmla="val 6000"/>
            </a:avLst>
          </a:prstGeom>
          <a:solidFill>
            <a:srgbClr val="F4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017520"/>
            <a:ext cx="5486400" cy="566928"/>
          </a:xfrm>
          <a:prstGeom prst="roundRect">
            <a:avLst>
              <a:gd name="adj" fmla="val 6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309067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STUDENT AREA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" y="3767328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849624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dashboard.php</a:t>
            </a:r>
            <a:r>
              <a:rPr sz="1000" b="0">
                <a:solidFill>
                  <a:srgbClr val="5A6478"/>
                </a:solidFill>
                <a:latin typeface="Segoe UI"/>
              </a:rPr>
              <a:t>  —  stat cards + quick access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55848" y="3767328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20440" y="3849624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subjects.php</a:t>
            </a:r>
            <a:r>
              <a:rPr sz="1000" b="0">
                <a:solidFill>
                  <a:srgbClr val="5A6478"/>
                </a:solidFill>
                <a:latin typeface="Segoe UI"/>
              </a:rPr>
              <a:t>  —  CRUD subjects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4370832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453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studyplanner.php</a:t>
            </a:r>
            <a:r>
              <a:rPr sz="1000" b="0">
                <a:solidFill>
                  <a:srgbClr val="5A6478"/>
                </a:solidFill>
                <a:latin typeface="Segoe UI"/>
              </a:rPr>
              <a:t>  —  tasks + status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55848" y="4370832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20440" y="4453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materials.php</a:t>
            </a:r>
            <a:r>
              <a:rPr sz="1000" b="0">
                <a:solidFill>
                  <a:srgbClr val="5A6478"/>
                </a:solidFill>
                <a:latin typeface="Segoe UI"/>
              </a:rPr>
              <a:t>  —  resource library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4974336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05663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progress.php</a:t>
            </a:r>
            <a:r>
              <a:rPr sz="1000" b="0">
                <a:solidFill>
                  <a:srgbClr val="5A6478"/>
                </a:solidFill>
                <a:latin typeface="Segoe UI"/>
              </a:rPr>
              <a:t>  —  progress bars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355848" y="4974336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20440" y="5056632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F46E5"/>
                </a:solidFill>
                <a:latin typeface="Segoe UI"/>
              </a:rPr>
              <a:t>profile.php</a:t>
            </a:r>
            <a:r>
              <a:rPr sz="1000" b="0">
                <a:solidFill>
                  <a:srgbClr val="5A6478"/>
                </a:solidFill>
                <a:latin typeface="Segoe UI"/>
              </a:rPr>
              <a:t>  —  account details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55080" y="3017520"/>
            <a:ext cx="5550408" cy="2651760"/>
          </a:xfrm>
          <a:prstGeom prst="roundRect">
            <a:avLst>
              <a:gd name="adj" fmla="val 6000"/>
            </a:avLst>
          </a:prstGeom>
          <a:solidFill>
            <a:srgbClr val="F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55080" y="3017520"/>
            <a:ext cx="5550408" cy="566928"/>
          </a:xfrm>
          <a:prstGeom prst="roundRect">
            <a:avLst>
              <a:gd name="adj" fmla="val 6000"/>
            </a:avLst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29400" y="3090672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ADMIN PANEL  (role = 'admin')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29400" y="3767328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93992" y="3849624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11D48"/>
                </a:solidFill>
                <a:latin typeface="Segoe UI"/>
              </a:rPr>
              <a:t>admin/dashboard.php</a:t>
            </a:r>
            <a:r>
              <a:rPr sz="950" b="0">
                <a:solidFill>
                  <a:srgbClr val="5A6478"/>
                </a:solidFill>
                <a:latin typeface="Segoe UI"/>
              </a:rPr>
              <a:t>  —  platform metrics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0" y="3767328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08592" y="3849624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11D48"/>
                </a:solidFill>
                <a:latin typeface="Segoe UI"/>
              </a:rPr>
              <a:t>admin/users.php</a:t>
            </a:r>
            <a:r>
              <a:rPr sz="950" b="0">
                <a:solidFill>
                  <a:srgbClr val="5A6478"/>
                </a:solidFill>
                <a:latin typeface="Segoe UI"/>
              </a:rPr>
              <a:t>  —  manage users &amp; roles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29400" y="4370832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793992" y="4453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11D48"/>
                </a:solidFill>
                <a:latin typeface="Segoe UI"/>
              </a:rPr>
              <a:t>admin/subjects.php</a:t>
            </a:r>
            <a:r>
              <a:rPr sz="950" b="0">
                <a:solidFill>
                  <a:srgbClr val="5A6478"/>
                </a:solidFill>
                <a:latin typeface="Segoe UI"/>
              </a:rPr>
              <a:t>  —  global oversight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0" y="4370832"/>
            <a:ext cx="2377440" cy="50292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8592" y="445312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11D48"/>
                </a:solidFill>
                <a:latin typeface="Segoe UI"/>
              </a:rPr>
              <a:t>admin/materials.php</a:t>
            </a:r>
            <a:r>
              <a:rPr sz="950" b="0">
                <a:solidFill>
                  <a:srgbClr val="5A6478"/>
                </a:solidFill>
                <a:latin typeface="Segoe UI"/>
              </a:rPr>
              <a:t>  —  global oversight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1248" y="587044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1B2440"/>
                </a:solidFill>
                <a:latin typeface="Segoe UI"/>
              </a:rPr>
              <a:t>Every protected page checks the session; </a:t>
            </a:r>
            <a:r>
              <a:rPr sz="1250" b="1">
                <a:solidFill>
                  <a:srgbClr val="E11D48"/>
                </a:solidFill>
                <a:latin typeface="Segoe UI"/>
              </a:rPr>
              <a:t>admin/auth_guard.php</a:t>
            </a:r>
            <a:r>
              <a:rPr sz="1250" b="0">
                <a:solidFill>
                  <a:srgbClr val="1B2440"/>
                </a:solidFill>
                <a:latin typeface="Segoe UI"/>
              </a:rPr>
              <a:t> blocks any non-admin before access.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06  · 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Four clean relational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DA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783080"/>
            <a:ext cx="2880360" cy="457200"/>
          </a:xfrm>
          <a:prstGeom prst="roundRect">
            <a:avLst>
              <a:gd name="adj" fmla="val 5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1837943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users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04872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name, email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identity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34056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password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bcrypt hash, cost 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3063239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course, semester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student context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392423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role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student | admin ENUM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11880" y="17830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11880" y="1783080"/>
            <a:ext cx="2880360" cy="457200"/>
          </a:xfrm>
          <a:prstGeom prst="roundRect">
            <a:avLst>
              <a:gd name="adj" fmla="val 5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13048" y="1837943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subjects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31336" y="2404872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subject_name, code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identity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31336" y="2734056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credit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credit 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31336" y="3063239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description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notes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31336" y="3392423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user_id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owner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56832" y="17830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656832" y="1783080"/>
            <a:ext cx="2880360" cy="457200"/>
          </a:xfrm>
          <a:prstGeom prst="roundRect">
            <a:avLst>
              <a:gd name="adj" fmla="val 5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0" y="1837943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tasks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76288" y="2404872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title, description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task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76288" y="2734056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study_date, due_date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schedule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76288" y="3063239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priority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High/Med/Low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76288" y="3392423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status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Pending/…/Completed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701784" y="1783080"/>
            <a:ext cx="2880360" cy="2148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701784" y="1783080"/>
            <a:ext cx="2880360" cy="457200"/>
          </a:xfrm>
          <a:prstGeom prst="roundRect">
            <a:avLst>
              <a:gd name="adj" fmla="val 5000"/>
            </a:avLst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02952" y="1837943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Segoe UI"/>
              </a:rPr>
              <a:t>materials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21240" y="2404872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material_name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identity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21240" y="2734056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material_type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PDF/Video/Website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3063239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material_link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external URL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21240" y="3392423"/>
            <a:ext cx="2468879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2440"/>
                </a:solidFill>
                <a:latin typeface="Segoe UI"/>
              </a:rPr>
              <a:t>description</a:t>
            </a:r>
            <a:r>
              <a:rPr sz="950" b="0">
                <a:solidFill>
                  <a:srgbClr val="5A6478"/>
                </a:solidFill>
                <a:latin typeface="Segoe UI"/>
              </a:rPr>
              <a:t>  ·  notes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053328"/>
            <a:ext cx="11338560" cy="502920"/>
          </a:xfrm>
          <a:prstGeom prst="roundRect">
            <a:avLst>
              <a:gd name="adj" fmla="val 50000"/>
            </a:avLst>
          </a:prstGeom>
          <a:solidFill>
            <a:srgbClr val="E6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053328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One-to-many:  </a:t>
            </a:r>
            <a:r>
              <a:rPr sz="1250" b="0">
                <a:solidFill>
                  <a:srgbClr val="1B2440"/>
                </a:solidFill>
                <a:latin typeface="Segoe UI"/>
              </a:rPr>
              <a:t>users → subjects → tasks &amp; materials, scoped by user_id / subject_id — students only ever see their own rows.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BED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284C7"/>
                </a:solidFill>
                <a:latin typeface="Segoe UI"/>
              </a:rPr>
              <a:t>07  ·  KEY SCREENS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From login to progress, in a few clicks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ED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D9E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11338560" cy="1005840"/>
          </a:xfrm>
          <a:prstGeom prst="roundRect">
            <a:avLst>
              <a:gd name="adj" fmla="val 10000"/>
            </a:avLst>
          </a:prstGeom>
          <a:solidFill>
            <a:srgbClr val="EF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828800"/>
            <a:ext cx="109728" cy="1005840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084832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554480" y="1938528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Login &amp;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860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Session-based auth; login regenerates the session ID; students are routed to the dashboard, admins to the admin panel.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944368"/>
            <a:ext cx="11338560" cy="1005840"/>
          </a:xfrm>
          <a:prstGeom prst="roundRect">
            <a:avLst>
              <a:gd name="adj" fmla="val 10000"/>
            </a:avLst>
          </a:prstGeom>
          <a:solidFill>
            <a:srgbClr val="F4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944368"/>
            <a:ext cx="109728" cy="100584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200400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054096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Dashboard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401568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Stat cards (subjects, tasks, materials, overall progress %), a progress bar, task status breakdown and quick-access tiles.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059935"/>
            <a:ext cx="11338560" cy="1005840"/>
          </a:xfrm>
          <a:prstGeom prst="roundRect">
            <a:avLst>
              <a:gd name="adj" fmla="val 10000"/>
            </a:avLst>
          </a:prstGeom>
          <a:solidFill>
            <a:srgbClr val="F7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4059935"/>
            <a:ext cx="109728" cy="10058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1248" y="431596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54480" y="4169663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Subject &amp; Task tables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517136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Inline add / edit forms; priority and status shown as colour-coded badges — Pending, In Progress, Completed.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175503"/>
            <a:ext cx="11338560" cy="1005840"/>
          </a:xfrm>
          <a:prstGeom prst="roundRect">
            <a:avLst>
              <a:gd name="adj" fmla="val 10000"/>
            </a:avLst>
          </a:prstGeom>
          <a:solidFill>
            <a:srgbClr val="F0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175503"/>
            <a:ext cx="109728" cy="10058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41248" y="5431536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54480" y="5285231"/>
            <a:ext cx="101498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Progress page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632703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Overall progress bar plus per-subject bars, so weak areas are visible immediately.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6EC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4D7C0F"/>
                </a:solidFill>
                <a:latin typeface="Segoe UI"/>
              </a:rPr>
              <a:t>08  · 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Security hardened from the start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4D7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2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E4EB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2039112"/>
            <a:ext cx="457200" cy="457200"/>
          </a:xfrm>
          <a:prstGeom prst="ellipse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031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35607" y="205740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bcrypt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679191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Passwords hashed with bcrypt (cost 12) — never stored as plain text; seed users re-hashed.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53128" y="1810512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81728" y="2039112"/>
            <a:ext cx="457200" cy="457200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45736" y="21031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21808" y="205740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Prepared statements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27448" y="2679191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Every query runs parameterised — SQL-injection payloads are structurally rejected.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39327" y="1810512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67928" y="203911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31936" y="2103120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08007" y="2057400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CSRF tokens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13648" y="2679191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A token protects every form, including inline delete and mark-complete actions.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977639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95528" y="4206240"/>
            <a:ext cx="457200" cy="457200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427024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7" y="4224527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Session hygiene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8463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Session auth with ID regeneration on login; logout destroys the session completely.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53128" y="3977639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81728" y="4206240"/>
            <a:ext cx="457200" cy="457200"/>
          </a:xfrm>
          <a:prstGeom prst="ellipse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5736" y="427024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8" y="4224527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Role guard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727448" y="48463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admin/auth_guard.php verifies the admin role before any admin page is served.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39327" y="3977639"/>
            <a:ext cx="3566160" cy="1920240"/>
          </a:xfrm>
          <a:prstGeom prst="roundRect">
            <a:avLst>
              <a:gd name="adj" fmla="val 8000"/>
            </a:avLst>
          </a:prstGeom>
          <a:solidFill>
            <a:srgbClr val="FC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567928" y="4206240"/>
            <a:ext cx="457200" cy="45720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31936" y="4270248"/>
            <a:ext cx="384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Segoe UI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08007" y="4224527"/>
            <a:ext cx="2560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B2440"/>
                </a:solidFill>
                <a:latin typeface="Segoe UI"/>
              </a:rPr>
              <a:t>No GET mutations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13648" y="4846320"/>
            <a:ext cx="3017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5A6478"/>
                </a:solidFill>
                <a:latin typeface="Segoe UI"/>
              </a:rPr>
              <a:t>Every state change is a POST — links can no longer trigger deletes or edits.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943600"/>
            <a:ext cx="11338560" cy="502920"/>
          </a:xfrm>
          <a:prstGeom prst="roundRect">
            <a:avLst>
              <a:gd name="adj" fmla="val 50000"/>
            </a:avLst>
          </a:prstGeom>
          <a:solidFill>
            <a:srgbClr val="E9EF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5943600"/>
            <a:ext cx="106984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4D7C0F"/>
                </a:solidFill>
                <a:latin typeface="Segoe UI"/>
              </a:rPr>
              <a:t>Verified end-to-end:  </a:t>
            </a:r>
            <a:r>
              <a:rPr sz="1250" b="0">
                <a:solidFill>
                  <a:srgbClr val="1B2440"/>
                </a:solidFill>
                <a:latin typeface="Segoe UI"/>
              </a:rPr>
              <a:t>31/31 integration &amp; security checks passed against the live app.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A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E11D48"/>
                </a:solidFill>
                <a:latin typeface="Segoe UI"/>
              </a:rPr>
              <a:t>09  ·  ADMIN PANEL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Platform control for admins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FADD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4846320" cy="3566160"/>
          </a:xfrm>
          <a:prstGeom prst="roundRect">
            <a:avLst>
              <a:gd name="adj" fmla="val 12000"/>
            </a:avLst>
          </a:prstGeom>
          <a:solidFill>
            <a:srgbClr val="FD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7" y="1956816"/>
            <a:ext cx="4297680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1B2440"/>
                </a:solidFill>
                <a:latin typeface="Segoe UI"/>
              </a:rPr>
              <a:t>Why an admin?</a:t>
            </a:r>
          </a:p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</a:pPr>
            <a:r>
              <a:rPr sz="1100" b="0">
                <a:solidFill>
                  <a:srgbClr val="FEFCFD"/>
                </a:solidFill>
                <a:latin typeface="Segoe UI"/>
              </a:rPr>
              <a:t>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77440"/>
            <a:ext cx="4343400" cy="2834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200"/>
              </a:spcBef>
              <a:spcAft>
                <a:spcPts val="800"/>
              </a:spcAft>
            </a:pPr>
            <a:r>
              <a:rPr sz="1250" b="0">
                <a:solidFill>
                  <a:srgbClr val="5A6478"/>
                </a:solidFill>
                <a:latin typeface="Segoe UI"/>
              </a:rPr>
              <a:t>Students manage their own study space; the platform still needs oversight: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1D48"/>
                </a:solidFill>
                <a:latin typeface="Segoe UI"/>
              </a:rPr>
              <a:t>✓ </a:t>
            </a:r>
            <a:r>
              <a:rPr sz="1250" b="0">
                <a:solidFill>
                  <a:srgbClr val="1B2440"/>
                </a:solidFill>
                <a:latin typeface="Segoe UI"/>
              </a:rPr>
              <a:t>See live counts of students, subjects, tasks and materials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1D48"/>
                </a:solidFill>
                <a:latin typeface="Segoe UI"/>
              </a:rPr>
              <a:t>✓ </a:t>
            </a:r>
            <a:r>
              <a:rPr sz="1250" b="0">
                <a:solidFill>
                  <a:srgbClr val="1B2440"/>
                </a:solidFill>
                <a:latin typeface="Segoe UI"/>
              </a:rPr>
              <a:t>Manage user accounts and toggle student ⇄ admin roles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>
                <a:solidFill>
                  <a:srgbClr val="E11D48"/>
                </a:solidFill>
                <a:latin typeface="Segoe UI"/>
              </a:rPr>
              <a:t>✓ </a:t>
            </a:r>
            <a:r>
              <a:rPr sz="1250" b="0">
                <a:solidFill>
                  <a:srgbClr val="1B2440"/>
                </a:solidFill>
                <a:latin typeface="Segoe UI"/>
              </a:rPr>
              <a:t>Review and clean up subjects / materials platform-wide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E11D48"/>
                </a:solidFill>
                <a:latin typeface="Segoe UI"/>
              </a:rPr>
              <a:t>✓ </a:t>
            </a:r>
            <a:r>
              <a:rPr sz="1250" b="0">
                <a:solidFill>
                  <a:srgbClr val="1B2440"/>
                </a:solidFill>
                <a:latin typeface="Segoe UI"/>
              </a:rPr>
              <a:t>Self-protection guard — an admin can never delete their own account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23560" y="1828800"/>
            <a:ext cx="2834640" cy="1691640"/>
          </a:xfrm>
          <a:prstGeom prst="roundRect">
            <a:avLst>
              <a:gd name="adj" fmla="val 9000"/>
            </a:avLst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23560" y="1828800"/>
            <a:ext cx="82296" cy="16916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824728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64808" y="20116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440"/>
                </a:solidFill>
                <a:latin typeface="Segoe UI"/>
              </a:rPr>
              <a:t>Platform dashboard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395728"/>
            <a:ext cx="1755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Total students, subjects, tasks and materials on one page.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60" y="1828800"/>
            <a:ext cx="2834640" cy="1691640"/>
          </a:xfrm>
          <a:prstGeom prst="roundRect">
            <a:avLst>
              <a:gd name="adj" fmla="val 9000"/>
            </a:avLst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828800"/>
            <a:ext cx="82296" cy="169164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796528" y="2029968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36608" y="2011680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440"/>
                </a:solidFill>
                <a:latin typeface="Segoe UI"/>
              </a:rPr>
              <a:t>User management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395728"/>
            <a:ext cx="1755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View users, edit roles and delete accounts with full data cleanup.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23560" y="3675887"/>
            <a:ext cx="2834640" cy="1691640"/>
          </a:xfrm>
          <a:prstGeom prst="roundRect">
            <a:avLst>
              <a:gd name="adj" fmla="val 9000"/>
            </a:avLst>
          </a:prstGeom>
          <a:solidFill>
            <a:srgbClr val="ED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623560" y="3675887"/>
            <a:ext cx="82296" cy="1691640"/>
          </a:xfrm>
          <a:prstGeom prst="round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24728" y="3877055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3858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440"/>
                </a:solidFill>
                <a:latin typeface="Segoe UI"/>
              </a:rPr>
              <a:t>Subject oversight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64808" y="4242816"/>
            <a:ext cx="1755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Global list of every student's subjects with safe deletion.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595360" y="3675887"/>
            <a:ext cx="2834640" cy="1691640"/>
          </a:xfrm>
          <a:prstGeom prst="roundRect">
            <a:avLst>
              <a:gd name="adj" fmla="val 9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95360" y="3675887"/>
            <a:ext cx="82296" cy="1691640"/>
          </a:xfrm>
          <a:prstGeom prst="round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96528" y="3877055"/>
            <a:ext cx="475488" cy="475488"/>
          </a:xfrm>
          <a:prstGeom prst="roundRect">
            <a:avLst>
              <a:gd name="adj" fmla="val 28000"/>
            </a:avLst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36608" y="3858768"/>
            <a:ext cx="1828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2440"/>
                </a:solidFill>
                <a:latin typeface="Segoe UI"/>
              </a:rPr>
              <a:t>Material oversight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36608" y="4242816"/>
            <a:ext cx="175564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Global view of stored resources with direct link access.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DDF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D9488"/>
                </a:solidFill>
                <a:latin typeface="Segoe UI"/>
              </a:rPr>
              <a:t>10  ·  TESTING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31 automated checks, all green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DAEE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783080"/>
            <a:ext cx="6949440" cy="758952"/>
          </a:xfrm>
          <a:prstGeom prst="roundRect">
            <a:avLst>
              <a:gd name="adj" fmla="val 12000"/>
            </a:avLst>
          </a:prstGeom>
          <a:solidFill>
            <a:srgbClr val="F0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65376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Auth &amp; registration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4884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login redirects, bad-password rejection, duplicate e-mail blocked, password policy, bcrypt hash stored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1760"/>
            <a:ext cx="6949440" cy="758952"/>
          </a:xfrm>
          <a:prstGeom prst="roundRect">
            <a:avLst>
              <a:gd name="adj" fmla="val 12000"/>
            </a:avLst>
          </a:prstGeom>
          <a:solidFill>
            <a:srgbClr val="F0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34056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CSRF protection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01752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missing-token and bad-token form submissions rejected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520439"/>
            <a:ext cx="6949440" cy="758952"/>
          </a:xfrm>
          <a:prstGeom prst="roundRect">
            <a:avLst>
              <a:gd name="adj" fmla="val 12000"/>
            </a:avLst>
          </a:prstGeom>
          <a:solidFill>
            <a:srgbClr val="F0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602735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SQL injection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8620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payloads such as ' OR 1=1 and UNION probes rejected on every form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389120"/>
            <a:ext cx="6949440" cy="758952"/>
          </a:xfrm>
          <a:prstGeom prst="roundRect">
            <a:avLst>
              <a:gd name="adj" fmla="val 12000"/>
            </a:avLst>
          </a:prstGeom>
          <a:solidFill>
            <a:srgbClr val="F0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471416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Full CRUD 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75488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add → edit → complete → delete verified against the database at each step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257800"/>
            <a:ext cx="6949440" cy="758952"/>
          </a:xfrm>
          <a:prstGeom prst="roundRect">
            <a:avLst>
              <a:gd name="adj" fmla="val 12000"/>
            </a:avLst>
          </a:prstGeom>
          <a:solidFill>
            <a:srgbClr val="F0F8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5340096"/>
            <a:ext cx="64008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0D9488"/>
                </a:solidFill>
                <a:latin typeface="Segoe UI"/>
              </a:rPr>
              <a:t>Guards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64008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5A6478"/>
                </a:solidFill>
                <a:latin typeface="Segoe UI"/>
              </a:rPr>
              <a:t>profile duplicate-e-mail guard, logout session lockout, seed-user &amp; admin login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783080"/>
            <a:ext cx="4069080" cy="4343400"/>
          </a:xfrm>
          <a:prstGeom prst="roundRect">
            <a:avLst>
              <a:gd name="adj" fmla="val 7000"/>
            </a:avLst>
          </a:prstGeom>
          <a:solidFill>
            <a:srgbClr val="F4F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2103120"/>
            <a:ext cx="3474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4F46E5"/>
                </a:solidFill>
                <a:latin typeface="Segoe UI"/>
              </a:rPr>
              <a:t>31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B2440"/>
                </a:solidFill>
                <a:latin typeface="Segoe UI"/>
              </a:rPr>
              <a:t>/ 31 checks passed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79" y="3977639"/>
            <a:ext cx="3383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Test suite: </a:t>
            </a:r>
            <a:r>
              <a:rPr sz="1100" b="0">
                <a:solidFill>
                  <a:srgbClr val="5A6478"/>
                </a:solidFill>
                <a:latin typeface="Segoe UI"/>
              </a:rPr>
              <a:t>PowerShell integration script against the live XAMPP app.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php -l </a:t>
            </a:r>
            <a:r>
              <a:rPr sz="1100" b="0">
                <a:solidFill>
                  <a:srgbClr val="5A6478"/>
                </a:solidFill>
                <a:latin typeface="Segoe UI"/>
              </a:rPr>
              <a:t>syntax lint clean on every page.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F9EB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D97706"/>
                </a:solidFill>
                <a:latin typeface="Segoe UI"/>
              </a:rPr>
              <a:t>11  ·  CHALLENGES &amp; LEARNINGS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Real problems, practical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C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F9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28800"/>
            <a:ext cx="3566160" cy="2880360"/>
          </a:xfrm>
          <a:prstGeom prst="roundRect">
            <a:avLst>
              <a:gd name="adj" fmla="val 8000"/>
            </a:avLst>
          </a:prstGeom>
          <a:solidFill>
            <a:srgbClr val="F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828800"/>
            <a:ext cx="3566160" cy="14630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2194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B2440"/>
                </a:solidFill>
                <a:latin typeface="Segoe UI"/>
              </a:rPr>
              <a:t>Security retrofit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8346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8"/>
                </a:solidFill>
                <a:latin typeface="Segoe UI"/>
              </a:rPr>
              <a:t>Migrating plaintext passwords to bcrypt and re-hashing seed data without breaking existing logins.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53128" y="1828800"/>
            <a:ext cx="3566160" cy="2880360"/>
          </a:xfrm>
          <a:prstGeom prst="roundRect">
            <a:avLst>
              <a:gd name="adj" fmla="val 8000"/>
            </a:avLst>
          </a:prstGeom>
          <a:solidFill>
            <a:srgbClr val="F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53128" y="1828800"/>
            <a:ext cx="3566160" cy="14630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45736" y="2194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B2440"/>
                </a:solidFill>
                <a:latin typeface="Segoe UI"/>
              </a:rPr>
              <a:t>CSRF on tiny forms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28346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8"/>
                </a:solidFill>
                <a:latin typeface="Segoe UI"/>
              </a:rPr>
              <a:t>Delete and mark-complete used minimal inline POST forms — every one of them had to carry a token and a session check.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1828800"/>
            <a:ext cx="3566160" cy="2880360"/>
          </a:xfrm>
          <a:prstGeom prst="roundRect">
            <a:avLst>
              <a:gd name="adj" fmla="val 8000"/>
            </a:avLst>
          </a:prstGeom>
          <a:solidFill>
            <a:srgbClr val="FC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39327" y="1828800"/>
            <a:ext cx="3566160" cy="146304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219456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50" b="1">
                <a:solidFill>
                  <a:srgbClr val="1B2440"/>
                </a:solidFill>
                <a:latin typeface="Segoe UI"/>
              </a:rPr>
              <a:t>Role-aware routing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2834640"/>
            <a:ext cx="301752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8"/>
                </a:solidFill>
                <a:latin typeface="Segoe UI"/>
              </a:rPr>
              <a:t>A single login now splits students from admins; the admin area needed its own guard, pages and styling.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120640"/>
            <a:ext cx="11338560" cy="868680"/>
          </a:xfrm>
          <a:prstGeom prst="roundRect">
            <a:avLst>
              <a:gd name="adj" fmla="val 10000"/>
            </a:avLst>
          </a:prstGeom>
          <a:solidFill>
            <a:srgbClr val="F9EA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5257800"/>
            <a:ext cx="106984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D97706"/>
                </a:solidFill>
                <a:latin typeface="Segoe UI"/>
              </a:rPr>
              <a:t>Key learning:  </a:t>
            </a:r>
            <a:r>
              <a:rPr sz="1300" b="0">
                <a:solidFill>
                  <a:srgbClr val="1B2440"/>
                </a:solidFill>
                <a:latin typeface="Segoe UI"/>
              </a:rPr>
              <a:t>security is a design decision. Parameterised queries and CSRF tokens belong in every form from the very first query — not as an afterthought.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5A6478"/>
                </a:solidFill>
                <a:latin typeface="Segoe UI"/>
              </a:rPr>
              <a:t>The lesson was applied project-wide: prepared statements, hashed passwords, tokens and role guards are now the baseline, not the exception.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438912"/>
            <a:ext cx="1737360" cy="310896"/>
          </a:xfrm>
          <a:prstGeom prst="roundRect">
            <a:avLst>
              <a:gd name="adj" fmla="val 50000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38912"/>
            <a:ext cx="173736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Segoe UI"/>
              </a:rPr>
              <a:t>12  · 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42416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100" b="1">
                <a:solidFill>
                  <a:srgbClr val="1B2440"/>
                </a:solidFill>
                <a:latin typeface="Segoe UI"/>
              </a:rPr>
              <a:t>Where PREPEXUS goes next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603504" y="1536192"/>
            <a:ext cx="868680" cy="685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109960" y="-548640"/>
            <a:ext cx="2011680" cy="2011680"/>
          </a:xfrm>
          <a:prstGeom prst="ellipse">
            <a:avLst/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58600" y="502920"/>
            <a:ext cx="1051560" cy="1051560"/>
          </a:xfrm>
          <a:prstGeom prst="ellipse">
            <a:avLst/>
          </a:prstGeom>
          <a:solidFill>
            <a:srgbClr val="EBE1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810512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2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956816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Password change UI for self-service security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10512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5F1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3280" y="1956816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E-mail verification during registration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42432" y="1810512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CEF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71032" y="1956816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Study reminders &amp; deadline notifications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30183" y="1810512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CEF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58784" y="1956816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Exportable study reports &amp; analytics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06324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CF5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8" y="320954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Shared includes refactor (fewer duplicates)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54680" y="306324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EEF7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20954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Dead-CSS cleanup for a leaner stylesheet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742432" y="306324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ED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71032" y="320954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Mobile-first polish for on-the-go study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30183" y="3063240"/>
            <a:ext cx="2423160" cy="1097280"/>
          </a:xfrm>
          <a:prstGeom prst="roundRect">
            <a:avLst>
              <a:gd name="adj" fmla="val 10000"/>
            </a:avLst>
          </a:prstGeom>
          <a:solidFill>
            <a:srgbClr val="FDF3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58784" y="3209544"/>
            <a:ext cx="2011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B2440"/>
                </a:solidFill>
                <a:latin typeface="Segoe UI"/>
              </a:rPr>
              <a:t>Progress history &amp; streak tracking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715000"/>
            <a:ext cx="11338560" cy="548640"/>
          </a:xfrm>
          <a:prstGeom prst="roundRect">
            <a:avLst>
              <a:gd name="adj" fmla="val 50000"/>
            </a:avLst>
          </a:prstGeom>
          <a:solidFill>
            <a:srgbClr val="EBEC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715000"/>
            <a:ext cx="10698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5A6478"/>
                </a:solidFill>
                <a:latin typeface="Segoe UI"/>
              </a:rPr>
              <a:t>Backlog tracked in </a:t>
            </a:r>
            <a:r>
              <a:rPr sz="1250" b="1">
                <a:solidFill>
                  <a:srgbClr val="1B2440"/>
                </a:solidFill>
                <a:latin typeface="Segoe UI"/>
              </a:rPr>
              <a:t>governance/planning/TODO.md</a:t>
            </a:r>
            <a:r>
              <a:rPr sz="1250" b="0">
                <a:solidFill>
                  <a:srgbClr val="5A6478"/>
                </a:solidFill>
                <a:latin typeface="Segoe UI"/>
              </a:rPr>
              <a:t>  (B-023 · B-026 · B-027)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473952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8A93A8"/>
                </a:solidFill>
                <a:latin typeface="Segoe UI"/>
              </a:rPr>
              <a:t>PREPEXUS  ·  Student Study Tracker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473952"/>
            <a:ext cx="502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A93A8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2920" cy="310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354632" y="0"/>
            <a:ext cx="1372920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09265" y="0"/>
            <a:ext cx="1372920" cy="31089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063898" y="0"/>
            <a:ext cx="1372920" cy="3108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18531" y="0"/>
            <a:ext cx="1372920" cy="3108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73164" y="0"/>
            <a:ext cx="1372920" cy="3108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127796" y="0"/>
            <a:ext cx="1372920" cy="31089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9482429" y="0"/>
            <a:ext cx="1372920" cy="31089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837062" y="0"/>
            <a:ext cx="1372920" cy="310896"/>
          </a:xfrm>
          <a:prstGeom prst="rect">
            <a:avLst/>
          </a:prstGeom>
          <a:solidFill>
            <a:srgbClr val="4D7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547104"/>
            <a:ext cx="1372920" cy="310896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354632" y="6547104"/>
            <a:ext cx="1372920" cy="31089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09265" y="6547104"/>
            <a:ext cx="1372920" cy="310896"/>
          </a:xfrm>
          <a:prstGeom prst="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3898" y="6547104"/>
            <a:ext cx="1372920" cy="310896"/>
          </a:xfrm>
          <a:prstGeom prst="rect">
            <a:avLst/>
          </a:prstGeom>
          <a:solidFill>
            <a:srgbClr val="E11D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18531" y="6547104"/>
            <a:ext cx="1372920" cy="31089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773164" y="6547104"/>
            <a:ext cx="1372920" cy="31089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27796" y="6547104"/>
            <a:ext cx="1372920" cy="310896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482429" y="6547104"/>
            <a:ext cx="1372920" cy="310896"/>
          </a:xfrm>
          <a:prstGeom prst="rect">
            <a:avLst/>
          </a:prstGeom>
          <a:solidFill>
            <a:srgbClr val="EA58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837062" y="6547104"/>
            <a:ext cx="1372920" cy="310896"/>
          </a:xfrm>
          <a:prstGeom prst="rect">
            <a:avLst/>
          </a:prstGeom>
          <a:solidFill>
            <a:srgbClr val="4D7C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1488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600" b="1">
                <a:solidFill>
                  <a:srgbClr val="4F46E5"/>
                </a:solidFill>
                <a:latin typeface="Segoe UI"/>
              </a:rPr>
              <a:t>T</a:t>
            </a:r>
            <a:r>
              <a:rPr sz="9600" b="1">
                <a:solidFill>
                  <a:srgbClr val="7C3AED"/>
                </a:solidFill>
                <a:latin typeface="Segoe UI"/>
              </a:rPr>
              <a:t>h</a:t>
            </a:r>
            <a:r>
              <a:rPr sz="9600" b="1">
                <a:solidFill>
                  <a:srgbClr val="DB2777"/>
                </a:solidFill>
                <a:latin typeface="Segoe UI"/>
              </a:rPr>
              <a:t>a</a:t>
            </a:r>
            <a:r>
              <a:rPr sz="9600" b="1">
                <a:solidFill>
                  <a:srgbClr val="E11D48"/>
                </a:solidFill>
                <a:latin typeface="Segoe UI"/>
              </a:rPr>
              <a:t>n</a:t>
            </a:r>
            <a:r>
              <a:rPr sz="9600" b="1">
                <a:solidFill>
                  <a:srgbClr val="D97706"/>
                </a:solidFill>
                <a:latin typeface="Segoe UI"/>
              </a:rPr>
              <a:t>k</a:t>
            </a:r>
            <a:r>
              <a:rPr sz="9600" b="1">
                <a:solidFill>
                  <a:srgbClr val="0D9488"/>
                </a:solidFill>
                <a:latin typeface="Segoe UI"/>
              </a:rPr>
              <a:t> </a:t>
            </a:r>
            <a:r>
              <a:rPr sz="9600" b="1">
                <a:solidFill>
                  <a:srgbClr val="0284C7"/>
                </a:solidFill>
                <a:latin typeface="Segoe UI"/>
              </a:rPr>
              <a:t>Y</a:t>
            </a:r>
            <a:r>
              <a:rPr sz="9600" b="1">
                <a:solidFill>
                  <a:srgbClr val="EA580C"/>
                </a:solidFill>
                <a:latin typeface="Segoe UI"/>
              </a:rPr>
              <a:t>o</a:t>
            </a:r>
            <a:r>
              <a:rPr sz="9600" b="1">
                <a:solidFill>
                  <a:srgbClr val="4D7C0F"/>
                </a:solidFill>
                <a:latin typeface="Segoe UI"/>
              </a:rPr>
              <a:t>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977639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5A6478"/>
                </a:solidFill>
                <a:latin typeface="Segoe UI"/>
              </a:rPr>
              <a:t>Questions &amp; feedback are welcome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62856" y="4709160"/>
            <a:ext cx="3108960" cy="502920"/>
          </a:xfrm>
          <a:prstGeom prst="roundRect">
            <a:avLst>
              <a:gd name="adj" fmla="val 50000"/>
            </a:avLst>
          </a:prstGeom>
          <a:solidFill>
            <a:srgbClr val="ECE3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2856" y="4709160"/>
            <a:ext cx="31089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7C3AED"/>
                </a:solidFill>
                <a:latin typeface="Segoe UI"/>
              </a:rPr>
              <a:t>PREPEXUS  ·  Student Study 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PREPEXUS - Student Study Tracker</dc:title>
  <dc:subject>Final project presentation</dc:subject>
  <dc:creator>PREPEXUS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